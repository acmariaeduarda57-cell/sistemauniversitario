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8" r:id="rId6"/>
    <p:sldId id="273" r:id="rId7"/>
    <p:sldId id="270" r:id="rId8"/>
    <p:sldId id="271" r:id="rId9"/>
    <p:sldId id="269" r:id="rId10"/>
    <p:sldId id="272" r:id="rId11"/>
    <p:sldId id="267" r:id="rId12"/>
    <p:sldId id="265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116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30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408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231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106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945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481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070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28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91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85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A485E-0B1F-4E3B-80F4-05265F9DB61C}" type="datetimeFigureOut">
              <a:rPr lang="es-ES" smtClean="0"/>
              <a:pPr/>
              <a:t>18/06/2026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E7B7A-D55B-494F-AD6E-71D991BE0B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36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2483D74-5FEB-96F5-2222-DB5FC10EEE67}"/>
              </a:ext>
            </a:extLst>
          </p:cNvPr>
          <p:cNvSpPr/>
          <p:nvPr/>
        </p:nvSpPr>
        <p:spPr>
          <a:xfrm>
            <a:off x="689868" y="2193612"/>
            <a:ext cx="104078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Navegación de Campus Universitario</a:t>
            </a:r>
            <a:endParaRPr lang="es-E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6AC887-F97B-D7A3-D377-A8C15F6F2EBE}"/>
              </a:ext>
            </a:extLst>
          </p:cNvPr>
          <p:cNvSpPr/>
          <p:nvPr/>
        </p:nvSpPr>
        <p:spPr>
          <a:xfrm>
            <a:off x="689868" y="3371753"/>
            <a:ext cx="539526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Asignatura: </a:t>
            </a:r>
            <a:r>
              <a:rPr lang="es-ES" sz="320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Estructura </a:t>
            </a:r>
            <a:r>
              <a:rPr lang="es-ES" sz="32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Datos</a:t>
            </a: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Integración de Árboles y Grafos</a:t>
            </a:r>
            <a:endParaRPr lang="es-ES" sz="3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5AF958-5EE1-1158-81DA-E1E0C3BDFE39}"/>
              </a:ext>
            </a:extLst>
          </p:cNvPr>
          <p:cNvSpPr/>
          <p:nvPr/>
        </p:nvSpPr>
        <p:spPr>
          <a:xfrm>
            <a:off x="1804373" y="4919227"/>
            <a:ext cx="834882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5" algn="ctr"/>
            <a:r>
              <a:rPr lang="es-ES" sz="36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Maria Eduarda Acosta Sánchez</a:t>
            </a:r>
            <a:endParaRPr lang="es-E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Ingeniería Informática </a:t>
            </a:r>
            <a:r>
              <a:rPr lang="es-E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II</a:t>
            </a:r>
            <a:endParaRPr lang="es-E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84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75BA5A-CA6D-1D40-57CB-E2594154BC24}"/>
              </a:ext>
            </a:extLst>
          </p:cNvPr>
          <p:cNvSpPr/>
          <p:nvPr/>
        </p:nvSpPr>
        <p:spPr>
          <a:xfrm>
            <a:off x="1296836" y="1188776"/>
            <a:ext cx="10316044" cy="36009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INTRODUCCIÓN </a:t>
            </a:r>
            <a:r>
              <a:rPr lang="es-ES" sz="4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 estudiante necesita moverse entre aulas de diferentes edificios en un campus universitario.</a:t>
            </a: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problema combina dos desafíos: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Macro: entre edificios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Micro: dentro del edificio</a:t>
            </a:r>
          </a:p>
          <a:p>
            <a:pPr algn="ctr"/>
            <a:endParaRPr lang="es-E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527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00891" y="1656771"/>
            <a:ext cx="261257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Solución </a:t>
            </a:r>
            <a:r>
              <a:rPr lang="es-ES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</a:p>
          <a:p>
            <a:r>
              <a:rPr lang="es-E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Una herramienta digital que permite gestionar todos los edificios y aulas de un campus universitario de  manera eficiente, rápida y sin errores</a:t>
            </a:r>
            <a:endParaRPr lang="es-E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084" y="1296248"/>
            <a:ext cx="8106906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4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53144" y="914400"/>
            <a:ext cx="1089442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Los campus universitarios son entornos complejos: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>
                <a:cs typeface="Arial" panose="020B0604020202020204" pitchFamily="34" charset="0"/>
              </a:rPr>
              <a:t>Múltiples edificios distribuidos.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>
                <a:cs typeface="Arial" panose="020B0604020202020204" pitchFamily="34" charset="0"/>
              </a:rPr>
              <a:t>Organización jerárquica dentro de cada edificio.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>
                <a:cs typeface="Arial" panose="020B0604020202020204" pitchFamily="34" charset="0"/>
              </a:rPr>
              <a:t>Estudiantes y visitantes necesitan orientarse.</a:t>
            </a:r>
          </a:p>
          <a:p>
            <a:endParaRPr lang="es-ES" sz="2800" dirty="0">
              <a:cs typeface="Arial" panose="020B0604020202020204" pitchFamily="34" charset="0"/>
            </a:endParaRPr>
          </a:p>
          <a:p>
            <a:r>
              <a:rPr lang="es-E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¿Por qué usar estas estructuras?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Árbol General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Grafo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Árbol Binario de Búsqueda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50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420513"/>
              </p:ext>
            </p:extLst>
          </p:nvPr>
        </p:nvGraphicFramePr>
        <p:xfrm>
          <a:off x="1039223" y="902546"/>
          <a:ext cx="290576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05760">
                  <a:extLst>
                    <a:ext uri="{9D8B030D-6E8A-4147-A177-3AD203B41FA5}">
                      <a16:colId xmlns:a16="http://schemas.microsoft.com/office/drawing/2014/main" val="2091015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Árbol</a:t>
                      </a:r>
                      <a:r>
                        <a:rPr lang="es-ES" baseline="0" dirty="0" smtClean="0"/>
                        <a:t> General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43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Jerarquía</a:t>
                      </a:r>
                      <a:r>
                        <a:rPr lang="es-ES" baseline="0" dirty="0" smtClean="0"/>
                        <a:t> interna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12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Edificio—Nivel—Aula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1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Recorrido DFS/BFS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94810"/>
                  </a:ext>
                </a:extLst>
              </a:tr>
            </a:tbl>
          </a:graphicData>
        </a:graphic>
      </p:graphicFrame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874928"/>
              </p:ext>
            </p:extLst>
          </p:nvPr>
        </p:nvGraphicFramePr>
        <p:xfrm>
          <a:off x="5750559" y="902546"/>
          <a:ext cx="3328127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28127">
                  <a:extLst>
                    <a:ext uri="{9D8B030D-6E8A-4147-A177-3AD203B41FA5}">
                      <a16:colId xmlns:a16="http://schemas.microsoft.com/office/drawing/2014/main" val="2091015622"/>
                    </a:ext>
                  </a:extLst>
                </a:gridCol>
              </a:tblGrid>
              <a:tr h="358986">
                <a:tc>
                  <a:txBody>
                    <a:bodyPr/>
                    <a:lstStyle/>
                    <a:p>
                      <a:r>
                        <a:rPr lang="es-ES" dirty="0" smtClean="0"/>
                        <a:t>Grafo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43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Conexiones entre edificios</a:t>
                      </a:r>
                      <a:endParaRPr lang="es-ES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12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baseline="0" dirty="0" smtClean="0"/>
                        <a:t>No dirigido, ponderado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Vértices = Edificios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1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Aristas = Distancias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94810"/>
                  </a:ext>
                </a:extLst>
              </a:tr>
            </a:tbl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63073"/>
              </p:ext>
            </p:extLst>
          </p:nvPr>
        </p:nvGraphicFramePr>
        <p:xfrm>
          <a:off x="1039223" y="3750249"/>
          <a:ext cx="5554617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54617">
                  <a:extLst>
                    <a:ext uri="{9D8B030D-6E8A-4147-A177-3AD203B41FA5}">
                      <a16:colId xmlns:a16="http://schemas.microsoft.com/office/drawing/2014/main" val="293471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Árbol Binario</a:t>
                      </a:r>
                      <a:r>
                        <a:rPr lang="es-ES" baseline="0" dirty="0" smtClean="0"/>
                        <a:t> de Búsqueda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5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Índice rápido</a:t>
                      </a:r>
                      <a:r>
                        <a:rPr lang="es-ES" baseline="0" dirty="0" smtClean="0"/>
                        <a:t> de aulas por código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9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 smtClean="0"/>
                        <a:t>CRUD completo: Insertar, Buscar, Modificar, Eliminar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824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46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52696" y="610832"/>
            <a:ext cx="7080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>
                <a:latin typeface="Arial Rounded MT Bold" panose="020F0704030504030204" pitchFamily="34" charset="0"/>
              </a:rPr>
              <a:t>Algoritmos Implementados: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613262" y="1815010"/>
            <a:ext cx="3331028" cy="20378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1691640" y="1976376"/>
            <a:ext cx="31873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Grafo: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Dijkstra: Ruta más corta entre edificios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BFS: Recorrido a lo ancho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DFS: Recorrido en profundidad</a:t>
            </a:r>
            <a:endParaRPr lang="es-ES" dirty="0"/>
          </a:p>
        </p:txBody>
      </p:sp>
      <p:sp>
        <p:nvSpPr>
          <p:cNvPr id="6" name="Rectángulo 5"/>
          <p:cNvSpPr/>
          <p:nvPr/>
        </p:nvSpPr>
        <p:spPr>
          <a:xfrm>
            <a:off x="1619795" y="4209862"/>
            <a:ext cx="3331028" cy="1444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Árbol General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1776548" y="4332148"/>
            <a:ext cx="3004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Árbol General: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DFS: Búsqueda de nodos y obtención de caminos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BFS: Recorrido por niveles</a:t>
            </a:r>
            <a:endParaRPr lang="es-ES" dirty="0"/>
          </a:p>
        </p:txBody>
      </p:sp>
      <p:sp>
        <p:nvSpPr>
          <p:cNvPr id="8" name="Rectángulo 7"/>
          <p:cNvSpPr/>
          <p:nvPr/>
        </p:nvSpPr>
        <p:spPr>
          <a:xfrm>
            <a:off x="5525589" y="2264835"/>
            <a:ext cx="4519748" cy="1587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/>
          <p:cNvSpPr txBox="1"/>
          <p:nvPr/>
        </p:nvSpPr>
        <p:spPr>
          <a:xfrm>
            <a:off x="5649686" y="2458660"/>
            <a:ext cx="427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Árbol Binario de Búsqueda: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Inorden: Listado ordenado de aulas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Preorden: Recorrido NLR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Postorden: Recorrido LRN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24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52697" y="117565"/>
            <a:ext cx="3357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>
                <a:latin typeface="Arial Rounded MT Bold" panose="020F0704030504030204" pitchFamily="34" charset="0"/>
              </a:rPr>
              <a:t>Árboles: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2" y="956080"/>
            <a:ext cx="4248743" cy="188621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469" y="332382"/>
            <a:ext cx="3953427" cy="321779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42" y="3550179"/>
            <a:ext cx="3820058" cy="247684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469" y="4042284"/>
            <a:ext cx="378195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1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4481" y="305191"/>
            <a:ext cx="17409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dirty="0" smtClean="0">
                <a:latin typeface="Arial Rounded MT Bold" panose="020F0704030504030204" pitchFamily="34" charset="0"/>
              </a:rPr>
              <a:t>Grafo:</a:t>
            </a:r>
            <a:endParaRPr lang="es-ES" sz="40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07" y="659134"/>
            <a:ext cx="623021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7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7" y="278365"/>
            <a:ext cx="10058400" cy="381922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2" y="4097593"/>
            <a:ext cx="10072555" cy="23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718925" y="448882"/>
            <a:ext cx="24077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dirty="0" smtClean="0">
                <a:latin typeface="Arial Rounded MT Bold" panose="020F0704030504030204" pitchFamily="34" charset="0"/>
              </a:rPr>
              <a:t>Pruebas:</a:t>
            </a:r>
            <a:endParaRPr lang="es-ES" sz="4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7" y="1598373"/>
            <a:ext cx="5036885" cy="276856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04" y="539179"/>
            <a:ext cx="3048425" cy="141942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851" y="543941"/>
            <a:ext cx="2581635" cy="140989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04" y="2802587"/>
            <a:ext cx="5591955" cy="3029373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718925" y="1229041"/>
            <a:ext cx="236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latin typeface="Arial Rounded MT Bold" panose="020F0704030504030204" pitchFamily="34" charset="0"/>
              </a:rPr>
              <a:t>Antes:</a:t>
            </a:r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5942377" y="2433255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latin typeface="Arial Rounded MT Bold" panose="020F0704030504030204" pitchFamily="34" charset="0"/>
              </a:rPr>
              <a:t>Después: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833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D75BA5A-CA6D-1D40-57CB-E2594154BC24}"/>
              </a:ext>
            </a:extLst>
          </p:cNvPr>
          <p:cNvSpPr/>
          <p:nvPr/>
        </p:nvSpPr>
        <p:spPr>
          <a:xfrm>
            <a:off x="326571" y="222070"/>
            <a:ext cx="11730445" cy="65892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Conclusiones :</a:t>
            </a: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  ¿</a:t>
            </a:r>
            <a:r>
              <a:rPr lang="es-ES" sz="3200" dirty="0" smtClean="0">
                <a:ln w="0"/>
                <a:ea typeface="Arial Unicode MS" panose="020B0604020202020204" pitchFamily="34" charset="-128"/>
                <a:cs typeface="Arial Unicode MS" panose="020B0604020202020204" pitchFamily="34" charset="-128"/>
              </a:rPr>
              <a:t>Qué aprendimos?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La elección de la estructura de datos adecuada depende del problema a resolver.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La integración del múltiples estructuras permite resolver problemas complejos que ninguna podría resolver sola.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Los algoritmos de grafos son herramientas poderosas para problemas de navegación.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   Dificultades: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Integrar el grafo con los árboles en una solución coherente</a:t>
            </a:r>
          </a:p>
          <a:p>
            <a:endParaRPr lang="es-ES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s-E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   Posibles mejoras: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Persistencia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Visualización gráfica del mapa del campus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200" dirty="0" smtClean="0">
              <a:ln w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/>
            <a:endParaRPr lang="es-E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51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54880" y="2821576"/>
            <a:ext cx="18810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b="1" dirty="0" smtClean="0">
                <a:latin typeface="Arial Rounded MT Bold" panose="020F0704030504030204" pitchFamily="34" charset="0"/>
              </a:rPr>
              <a:t>FIN</a:t>
            </a:r>
            <a:endParaRPr lang="es-ES" sz="66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57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304</Words>
  <Application>Microsoft Office PowerPoint</Application>
  <PresentationFormat>Panorámica</PresentationFormat>
  <Paragraphs>64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Unicode MS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MEDICOS</dc:creator>
  <cp:lastModifiedBy>Maria Eduarda</cp:lastModifiedBy>
  <cp:revision>34</cp:revision>
  <dcterms:created xsi:type="dcterms:W3CDTF">2020-02-20T15:12:09Z</dcterms:created>
  <dcterms:modified xsi:type="dcterms:W3CDTF">2026-06-18T17:52:21Z</dcterms:modified>
</cp:coreProperties>
</file>